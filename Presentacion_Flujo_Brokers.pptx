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9d89d172dd4107" /><Relationship Type="http://schemas.openxmlformats.org/officeDocument/2006/relationships/extended-properties" Target="/docProps/app.xml" Id="Rf895a0d4e0d04a90" /><Relationship Type="http://schemas.openxmlformats.org/officeDocument/2006/relationships/officeDocument" Target="/ppt/presentation.xml" Id="R210093069079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1e22b7a50a4d4b"/>
  </p:sldMasterIdLst>
  <p:notesMasterIdLst>
    <p:notesMasterId xmlns:r="http://schemas.openxmlformats.org/officeDocument/2006/relationships" r:id="Rb1630857d59d4b43"/>
  </p:notesMasterIdLst>
  <p:sldIdLst>
    <p:sldId xmlns:r="http://schemas.openxmlformats.org/officeDocument/2006/relationships" id="256" r:id="Rca247cd95c8949c9"/>
    <p:sldId xmlns:r="http://schemas.openxmlformats.org/officeDocument/2006/relationships" id="257" r:id="R137adeffa8804da2"/>
    <p:sldId xmlns:r="http://schemas.openxmlformats.org/officeDocument/2006/relationships" id="258" r:id="Re0f89f082ac141fc"/>
    <p:sldId xmlns:r="http://schemas.openxmlformats.org/officeDocument/2006/relationships" id="259" r:id="R207ccf14e655469c"/>
    <p:sldId xmlns:r="http://schemas.openxmlformats.org/officeDocument/2006/relationships" id="260" r:id="R9ec1ab9beaa54a85"/>
    <p:sldId xmlns:r="http://schemas.openxmlformats.org/officeDocument/2006/relationships" id="261" r:id="R5ef3fb0bac8e4c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fcb18fae134f04" /><Relationship Type="http://schemas.openxmlformats.org/officeDocument/2006/relationships/slideMaster" Target="/ppt/slideMasters/slideMaster1.xml" Id="R0c1e22b7a50a4d4b" /><Relationship Type="http://schemas.openxmlformats.org/officeDocument/2006/relationships/notesMaster" Target="/ppt/notesMasters/notesMaster1.xml" Id="Rb1630857d59d4b43" /><Relationship Type="http://schemas.openxmlformats.org/officeDocument/2006/relationships/presProps" Target="/ppt/presProps.xml" Id="Rec79032178e84cd1" /><Relationship Type="http://schemas.openxmlformats.org/officeDocument/2006/relationships/tableStyles" Target="/ppt/tableStyles.xml" Id="R2a8db7d4f8874b59" /><Relationship Type="http://schemas.openxmlformats.org/officeDocument/2006/relationships/slide" Target="/ppt/slides/slide1.xml" Id="Rca247cd95c8949c9" /><Relationship Type="http://schemas.openxmlformats.org/officeDocument/2006/relationships/slide" Target="/ppt/slides/slide2.xml" Id="R137adeffa8804da2" /><Relationship Type="http://schemas.openxmlformats.org/officeDocument/2006/relationships/slide" Target="/ppt/slides/slide3.xml" Id="Re0f89f082ac141fc" /><Relationship Type="http://schemas.openxmlformats.org/officeDocument/2006/relationships/slide" Target="/ppt/slides/slide4.xml" Id="R207ccf14e655469c" /><Relationship Type="http://schemas.openxmlformats.org/officeDocument/2006/relationships/slide" Target="/ppt/slides/slide5.xml" Id="R9ec1ab9beaa54a85" /><Relationship Type="http://schemas.openxmlformats.org/officeDocument/2006/relationships/slide" Target="/ppt/slides/slide6.xml" Id="R5ef3fb0bac8e4c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98675bded347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e1fcc00706404f" /><Relationship Type="http://schemas.openxmlformats.org/officeDocument/2006/relationships/notesMaster" Target="/ppt/notesMasters/notesMaster1.xml" Id="Re5988654b3594b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085b938af94933" /><Relationship Type="http://schemas.openxmlformats.org/officeDocument/2006/relationships/notesMaster" Target="/ppt/notesMasters/notesMaster1.xml" Id="Rec7f08ca646748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72e18920764c9e" /><Relationship Type="http://schemas.openxmlformats.org/officeDocument/2006/relationships/notesMaster" Target="/ppt/notesMasters/notesMaster1.xml" Id="R07a0ff93660246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6284566ce94f56" /><Relationship Type="http://schemas.openxmlformats.org/officeDocument/2006/relationships/notesMaster" Target="/ppt/notesMasters/notesMaster1.xml" Id="R8a6ac9a9c5cd4f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c0adbf1cbe4b6a" /><Relationship Type="http://schemas.openxmlformats.org/officeDocument/2006/relationships/notesMaster" Target="/ppt/notesMasters/notesMaster1.xml" Id="Rce4df32acaa744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4fa707b93e4f4b" /><Relationship Type="http://schemas.openxmlformats.org/officeDocument/2006/relationships/notesMaster" Target="/ppt/notesMasters/notesMaster1.xml" Id="R88db7135c1e24b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Introducción: presentar el objetivo del flujo y el resultado final para el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Workflow and cost assumptions: user-provided brief (2026-08-28).</a:t>
            </a:r>
          </a:p>
          <a:p xmlns:a="http://schemas.openxmlformats.org/drawingml/2006/main">
            <a:r>
              <a:t>Logos: Apify (https://apify.com/img/apify-logo/logomark-32x32.svg); Instagram (https://cdn.simpleicons.org/instagram); Google Sheets (https://cdn.simpleicons.org/googlesheets); Microsoft Excel (https://commons.wikimedia.org/wiki/File:Microsoft_Office_Excel_(2019%E2%80%932025).svg)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valor no está en recolectar likes, sino en convertirlos en contactos de brokers que pueden ser utilizados por el equipo comercial.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Workflow and cost assumptions: user-provided brief (2026-08-28).</a:t>
            </a:r>
          </a:p>
          <a:p xmlns:a="http://schemas.openxmlformats.org/drawingml/2006/main">
            <a:r>
              <a:t>Logos: Apify (https://apify.com/img/apify-logo/logomark-32x32.svg); Instagram (https://cdn.simpleicons.org/instagram); Google Sheets (https://cdn.simpleicons.org/googlesheets); Microsoft Excel (https://commons.wikimedia.org/wiki/File:Microsoft_Office_Excel_(2019%E2%80%932025).svg)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Vista resumida del proceso completo. Cada etapa deja una clasificación clara antes de pasar a la siguiente.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Workflow and cost assumptions: user-provided brief (2026-08-28).</a:t>
            </a:r>
          </a:p>
          <a:p xmlns:a="http://schemas.openxmlformats.org/drawingml/2006/main">
            <a:r>
              <a:t>Logos: Apify (https://apify.com/img/apify-logo/logomark-32x32.svg); Instagram (https://cdn.simpleicons.org/instagram); Google Sheets (https://cdn.simpleicons.org/googlesheets); Microsoft Excel (https://commons.wikimedia.org/wiki/File:Microsoft_Office_Excel_(2019%E2%80%932025).svg)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Reglas de clasificación propuestas: no broker se descarta; broker con mail se exporta; broker sin mail se conserva identificado para un posible seguimiento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Workflow and cost assumptions: user-provided brief (2026-08-28).</a:t>
            </a:r>
          </a:p>
          <a:p xmlns:a="http://schemas.openxmlformats.org/drawingml/2006/main">
            <a:r>
              <a:t>Logos: Apify (https://apify.com/img/apify-logo/logomark-32x32.svg); Instagram (https://cdn.simpleicons.org/instagram); Google Sheets (https://cdn.simpleicons.org/googlesheets); Microsoft Excel (https://commons.wikimedia.org/wiki/File:Microsoft_Office_Excel_(2019%E2%80%932025).svg)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misma base de datos del sistema IVR puede centralizar la información. Se entregan los brokers con email en formatos Excel, CSV y Google Sheets.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Workflow and cost assumptions: user-provided brief (2026-08-28).</a:t>
            </a:r>
          </a:p>
          <a:p xmlns:a="http://schemas.openxmlformats.org/drawingml/2006/main">
            <a:r>
              <a:t>Logos: Apify (https://apify.com/img/apify-logo/logomark-32x32.svg); Instagram (https://cdn.simpleicons.org/instagram); Google Sheets (https://cdn.simpleicons.org/googlesheets); Microsoft Excel (https://commons.wikimedia.org/wiki/File:Microsoft_Office_Excel_(2019%E2%80%932025).svg)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Punto de tranquilidad para el cliente: no se realiza scraping con login de una cuenta propia. Los costos se concentran en Apify y en un uso acotado de IA; se aprovecha la infraestructura IVR existente.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Workflow and cost assumptions: user-provided brief (2026-08-28).</a:t>
            </a:r>
          </a:p>
          <a:p xmlns:a="http://schemas.openxmlformats.org/drawingml/2006/main">
            <a:r>
              <a:t>Logos: Apify (https://apify.com/img/apify-logo/logomark-32x32.svg); Instagram (https://cdn.simpleicons.org/instagram); Google Sheets (https://cdn.simpleicons.org/googlesheets); Microsoft Excel (https://commons.wikimedia.org/wiki/File:Microsoft_Office_Excel_(2019%E2%80%932025).svg)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d174b496943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018bbf19ba429f" /><Relationship Type="http://schemas.openxmlformats.org/officeDocument/2006/relationships/slideLayout" Target="/ppt/slideLayouts/slideLayout1.xml" Id="Rb63442987c2c4f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3442987c2c4f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2c506fe634479" /><Relationship Type="http://schemas.openxmlformats.org/officeDocument/2006/relationships/image" Target="/ppt/media/image.png" Id="R2d12fe51851946cb" /><Relationship Type="http://schemas.openxmlformats.org/officeDocument/2006/relationships/image" Target="/ppt/media/image2.png" Id="R51d4b66a494f4b15" /><Relationship Type="http://schemas.openxmlformats.org/officeDocument/2006/relationships/notesSlide" Target="/ppt/notesSlides/notesSlide1.xml" Id="Re9735a54a77d49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2d41331fe4aca" /><Relationship Type="http://schemas.openxmlformats.org/officeDocument/2006/relationships/image" Target="/ppt/media/image3.png" Id="R3f31f4d1006e4a36" /><Relationship Type="http://schemas.openxmlformats.org/officeDocument/2006/relationships/notesSlide" Target="/ppt/notesSlides/notesSlide2.xml" Id="R1f7a7ea8d02841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37a886a114e50" /><Relationship Type="http://schemas.openxmlformats.org/officeDocument/2006/relationships/notesSlide" Target="/ppt/notesSlides/notesSlide3.xml" Id="Rfbad6e1658c74f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01bc903264471" /><Relationship Type="http://schemas.openxmlformats.org/officeDocument/2006/relationships/notesSlide" Target="/ppt/notesSlides/notesSlide4.xml" Id="R178dc9250e0b4b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70bd3b5aa4684" /><Relationship Type="http://schemas.openxmlformats.org/officeDocument/2006/relationships/image" Target="/ppt/media/image4.png" Id="R3626195691f24a26" /><Relationship Type="http://schemas.openxmlformats.org/officeDocument/2006/relationships/image" Target="/ppt/media/image5.png" Id="Rc785bb40690b4542" /><Relationship Type="http://schemas.openxmlformats.org/officeDocument/2006/relationships/notesSlide" Target="/ppt/notesSlides/notesSlide5.xml" Id="R145ef91711a848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0e409040a4d7e" /><Relationship Type="http://schemas.openxmlformats.org/officeDocument/2006/relationships/image" Target="/ppt/media/image6.png" Id="R8f7b937914774e0c" /><Relationship Type="http://schemas.openxmlformats.org/officeDocument/2006/relationships/notesSlide" Target="/ppt/notesSlides/notesSlide6.xml" Id="R6a72ce505ae440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3DE55-3B2C-470A-BFD2-2FA8283D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04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7000C-1411-4CD7-AA43-533E77E6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5B"/>
                </a:solidFill>
              </a:defRPr>
            </a:pPr>
            <a:r>
              <a:rPr sz="1125" b="1">
                <a:solidFill>
                  <a:srgbClr val="087F5B"/>
                </a:solidFill>
              </a:rPr>
              <a:t>FLUJO DE CAPTACIÓN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DE137-5EE5-479A-8C6C-13502474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76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A2E"/>
                </a:solidFill>
              </a:defRPr>
            </a:pPr>
            <a:r>
              <a:rPr sz="4350" b="1">
                <a:solidFill>
                  <a:srgbClr val="102A2E"/>
                </a:solidFill>
              </a:rPr>
              <a:t>Brokers potenciales</a:t>
            </a:r>
          </a:p>
          <a:p xmlns:a="http://schemas.openxmlformats.org/drawingml/2006/main">
            <a:pPr algn="l">
              <a:defRPr sz="4350" b="1">
                <a:solidFill>
                  <a:srgbClr val="102A2E"/>
                </a:solidFill>
              </a:defRPr>
            </a:pPr>
            <a:r>
              <a:rPr sz="4350" b="1">
                <a:solidFill>
                  <a:srgbClr val="102A2E"/>
                </a:solidFill>
              </a:rPr>
              <a:t>a partir de interacciones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956BC-7E0C-49F1-914C-40A8B1D5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E70"/>
                </a:solidFill>
              </a:defRPr>
            </a:pPr>
            <a:r>
              <a:rPr sz="1800" b="0">
                <a:solidFill>
                  <a:srgbClr val="5F6E70"/>
                </a:solidFill>
              </a:rPr>
              <a:t>Un proceso automatizado para transformar los likes de un post en una base de contactos calificados.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35E93-B6D9-49ED-808A-9C7A6F32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66825"/>
            <a:ext cx="2952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C8F32-5E40-42EB-AFF7-F1E3EBA0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24150"/>
            <a:ext cx="1847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7B874-0664-4E33-A0AD-C9D1F157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647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0FF"/>
          </a:solidFill>
          <a:ln xmlns:a="http://schemas.openxmlformats.org/drawingml/2006/main" w="0">
            <a:solidFill>
              <a:srgbClr val="EDE0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2fe51851946cb"/>
          <a:stretch xmlns:a="http://schemas.openxmlformats.org/drawingml/2006/main"/>
        </p:blipFill>
        <p:spPr>
          <a:xfrm xmlns:a="http://schemas.openxmlformats.org/drawingml/2006/main">
            <a:off x="8248650" y="26955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45847-FBFC-447B-8FBE-67665968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47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5E6"/>
          </a:solidFill>
          <a:ln xmlns:a="http://schemas.openxmlformats.org/drawingml/2006/main" w="0">
            <a:solidFill>
              <a:srgbClr val="CCF5E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4b66a494f4b15"/>
          <a:stretch xmlns:a="http://schemas.openxmlformats.org/drawingml/2006/main"/>
        </p:blipFill>
        <p:spPr>
          <a:xfrm xmlns:a="http://schemas.openxmlformats.org/drawingml/2006/main">
            <a:off x="9286875" y="26955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CDCFB-6636-44A4-B14F-16591F2C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47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2FF"/>
          </a:solidFill>
          <a:ln xmlns:a="http://schemas.openxmlformats.org/drawingml/2006/main" w="0">
            <a:solidFill>
              <a:srgbClr val="E5F2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639FD-503F-4835-B78C-2004C48E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705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F5B"/>
                </a:solidFill>
              </a:defRPr>
            </a:pPr>
            <a:r>
              <a:rPr sz="1125" b="1">
                <a:solidFill>
                  <a:srgbClr val="087F5B"/>
                </a:solidFill>
              </a:rPr>
              <a:t>BD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F904E-36B9-401E-BD31-7EB7C757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190875"/>
            <a:ext cx="638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E70"/>
                </a:solidFill>
              </a:defRPr>
            </a:pPr>
            <a:r>
              <a:rPr sz="900" b="1">
                <a:solidFill>
                  <a:srgbClr val="5F6E70"/>
                </a:solidFill>
              </a:rPr>
              <a:t>POST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A0F39-277B-440B-9FF2-2DD3CD69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908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E70"/>
                </a:solidFill>
              </a:defRPr>
            </a:pPr>
            <a:r>
              <a:rPr sz="900" b="1">
                <a:solidFill>
                  <a:srgbClr val="5F6E70"/>
                </a:solidFill>
              </a:rPr>
              <a:t>PROCESO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FEC74-180A-4138-B864-B7DFC86E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908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E70"/>
                </a:solidFill>
              </a:defRPr>
            </a:pPr>
            <a:r>
              <a:rPr sz="900" b="1">
                <a:solidFill>
                  <a:srgbClr val="5F6E70"/>
                </a:solidFill>
              </a:rPr>
              <a:t>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562FB-F04D-4BB4-BD9A-A6C5B76D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48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E70"/>
                </a:solidFill>
              </a:defRPr>
            </a:pPr>
            <a:r>
              <a:rPr sz="1125" b="0">
                <a:solidFill>
                  <a:srgbClr val="5F6E70"/>
                </a:solidFill>
              </a:rPr>
              <a:t>Propuesta de solución</a:t>
            </a:r>
          </a:p>
        </p:txBody>
      </p:sp>
    </p:spTree>
    <p:extLst>
      <p:ext uri="{BB962C8B-B14F-4D97-AF65-F5344CB8AC3E}">
        <p14:creationId xmlns:p14="http://schemas.microsoft.com/office/powerpoint/2010/main" val="1421332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83287-4421-4CFA-8567-B9046EBD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</a:defRPr>
            </a:pPr>
            <a:r>
              <a:rPr sz="1050" b="1">
                <a:solidFill>
                  <a:srgbClr val="087F5B"/>
                </a:solidFill>
              </a:rPr>
              <a:t>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F8AE5-17B2-4A61-9429-B0063C0F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985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E"/>
                </a:solidFill>
              </a:defRPr>
            </a:pPr>
            <a:r>
              <a:rPr sz="2700" b="1">
                <a:solidFill>
                  <a:srgbClr val="102A2E"/>
                </a:solidFill>
              </a:rPr>
              <a:t>Del engagement a una base de brokers contactables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50C13-F096-45AD-89AF-CAC21292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238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E70"/>
                </a:solidFill>
              </a:defRPr>
            </a:pPr>
            <a:r>
              <a:rPr sz="1125" b="1">
                <a:solidFill>
                  <a:srgbClr val="5F6E70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AE49D-4590-472B-AB00-671492CE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1"/>
          </a:solidFill>
          <a:ln xmlns:a="http://schemas.openxmlformats.org/drawingml/2006/main" w="0">
            <a:solidFill>
              <a:srgbClr val="D9E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4AC5B-77DB-4C58-8F16-B41B1C95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E70"/>
                </a:solidFill>
              </a:defRPr>
            </a:pPr>
            <a:r>
              <a:rPr sz="1800" b="0">
                <a:solidFill>
                  <a:srgbClr val="5F6E70"/>
                </a:solidFill>
              </a:rPr>
              <a:t>El sistema prioriza perfiles relevantes, los clasifica y deja el resultado listo para trabajar comercialmente.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159F6-EDA9-466A-AE30-C1EBA876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90950"/>
            <a:ext cx="77152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09266-B91F-4B7A-8AAF-3340E76A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5E6"/>
          </a:solidFill>
          <a:ln xmlns:a="http://schemas.openxmlformats.org/drawingml/2006/main" w="0">
            <a:solidFill>
              <a:srgbClr val="CCF5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790D7-9022-4095-9A32-8B373BA9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E"/>
                </a:solidFill>
              </a:defRPr>
            </a:pPr>
            <a:r>
              <a:rPr sz="1500" b="1">
                <a:solidFill>
                  <a:srgbClr val="102A2E"/>
                </a:solidFill>
              </a:rPr>
              <a:t>Interacciones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A36A2-A9F3-49C7-AD57-E4925D53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5E6"/>
          </a:solidFill>
          <a:ln xmlns:a="http://schemas.openxmlformats.org/drawingml/2006/main" w="0">
            <a:solidFill>
              <a:srgbClr val="CCF5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C9937-1234-4911-B944-FD697A1A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E"/>
                </a:solidFill>
              </a:defRPr>
            </a:pPr>
            <a:r>
              <a:rPr sz="1500" b="1">
                <a:solidFill>
                  <a:srgbClr val="102A2E"/>
                </a:solidFill>
              </a:rPr>
              <a:t>Perfiles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10D04-2143-4E1B-92DE-ED79ED18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5E6"/>
          </a:solidFill>
          <a:ln xmlns:a="http://schemas.openxmlformats.org/drawingml/2006/main" w="0">
            <a:solidFill>
              <a:srgbClr val="CCF5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F128A-84E6-4067-B056-1396BF9E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E"/>
                </a:solidFill>
              </a:defRPr>
            </a:pPr>
            <a:r>
              <a:rPr sz="1500" b="1">
                <a:solidFill>
                  <a:srgbClr val="102A2E"/>
                </a:solidFill>
              </a:rPr>
              <a:t>Brokers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C2905-51E1-4126-AA05-97C1DB39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5E6"/>
          </a:solidFill>
          <a:ln xmlns:a="http://schemas.openxmlformats.org/drawingml/2006/main" w="0">
            <a:solidFill>
              <a:srgbClr val="CCF5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63D6A-93A8-48F1-8708-116597B4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E"/>
                </a:solidFill>
              </a:defRPr>
            </a:pPr>
            <a:r>
              <a:rPr sz="1500" b="1">
                <a:solidFill>
                  <a:srgbClr val="102A2E"/>
                </a:solidFill>
              </a:rPr>
              <a:t>Emails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104FE-97DE-4DAC-B41B-E79B3F2C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5E6"/>
          </a:solidFill>
          <a:ln xmlns:a="http://schemas.openxmlformats.org/drawingml/2006/main" w="0">
            <a:solidFill>
              <a:srgbClr val="CCF5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D7561-1E55-4D23-98CA-FB80D958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E"/>
                </a:solidFill>
              </a:defRPr>
            </a:pPr>
            <a:r>
              <a:rPr sz="1500" b="1">
                <a:solidFill>
                  <a:srgbClr val="102A2E"/>
                </a:solidFill>
              </a:rPr>
              <a:t>Base final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1f4d1006e4a36"/>
          <a:stretch xmlns:a="http://schemas.openxmlformats.org/drawingml/2006/main"/>
        </p:blipFill>
        <p:spPr>
          <a:xfrm xmlns:a="http://schemas.openxmlformats.org/drawingml/2006/main">
            <a:off x="1638300" y="3686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12878-5FF5-4A19-B9D5-3E79837F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390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F5B"/>
                </a:solidFill>
              </a:defRPr>
            </a:pPr>
            <a:r>
              <a:rPr sz="1125" b="1">
                <a:solidFill>
                  <a:srgbClr val="087F5B"/>
                </a:solidFill>
              </a:rPr>
              <a:t>Perfil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17A00-59A0-4541-80BE-62A5F635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671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5B"/>
                </a:solidFill>
              </a:defRPr>
            </a:pPr>
            <a:r>
              <a:rPr sz="2025" b="1">
                <a:solidFill>
                  <a:srgbClr val="087F5B"/>
                </a:solidFill>
              </a:rPr>
              <a:t>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944F6-540E-4B98-BCF0-B4329611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57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7F5B"/>
                </a:solidFill>
              </a:defRPr>
            </a:pPr>
            <a:r>
              <a:rPr sz="2025" b="1">
                <a:solidFill>
                  <a:srgbClr val="087F5B"/>
                </a:solidFill>
              </a:rPr>
              <a:t>@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A6760-108D-4230-8AF3-A3737FE2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052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F5B"/>
                </a:solidFill>
              </a:defRPr>
            </a:pPr>
            <a:r>
              <a:rPr sz="1125" b="1">
                <a:solidFill>
                  <a:srgbClr val="087F5B"/>
                </a:solidFill>
              </a:rPr>
              <a:t>BD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EBBD8-982D-4F8E-857F-674FB996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5B"/>
                </a:solidFill>
              </a:defRPr>
            </a:pPr>
            <a:r>
              <a:rPr sz="1575" b="1">
                <a:solidFill>
                  <a:srgbClr val="087F5B"/>
                </a:solidFill>
              </a:rPr>
              <a:t>Resultado: contactos seleccionados, ordenados y exportables.</a:t>
            </a:r>
          </a:p>
        </p:txBody>
      </p:sp>
    </p:spTree>
    <p:extLst>
      <p:ext uri="{BB962C8B-B14F-4D97-AF65-F5344CB8AC3E}">
        <p14:creationId xmlns:p14="http://schemas.microsoft.com/office/powerpoint/2010/main" val="1527143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C12489-EA24-4DA8-8FF0-5A41EF48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</a:defRPr>
            </a:pPr>
            <a:r>
              <a:rPr sz="1050" b="1">
                <a:solidFill>
                  <a:srgbClr val="087F5B"/>
                </a:solidFill>
              </a:rPr>
              <a:t>FLUJO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F9803-BB91-4A92-9694-428A9407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985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E"/>
                </a:solidFill>
              </a:defRPr>
            </a:pPr>
            <a:r>
              <a:rPr sz="2700" b="1">
                <a:solidFill>
                  <a:srgbClr val="102A2E"/>
                </a:solidFill>
              </a:rPr>
              <a:t>Cinco etapas simples y trazables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EF34C-CAA9-4A00-9D78-425CE8D0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238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E70"/>
                </a:solidFill>
              </a:defRPr>
            </a:pPr>
            <a:r>
              <a:rPr sz="1125" b="1">
                <a:solidFill>
                  <a:srgbClr val="5F6E7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6CBC5-8D22-46F0-BC4A-04134243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1"/>
          </a:solidFill>
          <a:ln xmlns:a="http://schemas.openxmlformats.org/drawingml/2006/main" w="0">
            <a:solidFill>
              <a:srgbClr val="D9E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13052-E6A4-4595-B90B-ED3C3810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14700"/>
            <a:ext cx="2000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solidFill>
              <a:srgbClr val="087F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CF14D-F5D6-4E8C-92D4-46E3ED58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14700"/>
            <a:ext cx="2000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solidFill>
              <a:srgbClr val="087F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21D63-191B-4781-BA2D-7B1FF41B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14700"/>
            <a:ext cx="2000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solidFill>
              <a:srgbClr val="087F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AF5EB-F07A-4889-A7A7-351720F0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14700"/>
            <a:ext cx="2000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solidFill>
              <a:srgbClr val="087F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4C722-6AA3-4177-8FA8-97B634EC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885950" cy="2476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E88E8-82BA-491B-928F-0CDF3C55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5B"/>
                </a:solidFill>
              </a:defRPr>
            </a:pPr>
            <a:r>
              <a:rPr sz="1125" b="1">
                <a:solidFill>
                  <a:srgbClr val="087F5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3E2F0-B5CE-4ECF-BC95-CA55523A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0ABF7-AD4D-482F-B13D-B0FE2740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URL del 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55859-191B-48A8-8332-A30CC9C8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E70"/>
                </a:solidFill>
              </a:defRPr>
            </a:pPr>
            <a:r>
              <a:rPr sz="1200" b="0">
                <a:solidFill>
                  <a:srgbClr val="5F6E70"/>
                </a:solidFill>
              </a:rPr>
              <a:t>Se ingresa el link del post a analizar.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B81A5-EFDC-4AF5-950D-D6FAB1F1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333625"/>
            <a:ext cx="1885950" cy="2476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E09E5-9089-49DE-8872-8475EA1A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5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5B"/>
                </a:solidFill>
              </a:defRPr>
            </a:pPr>
            <a:r>
              <a:rPr sz="1125" b="1">
                <a:solidFill>
                  <a:srgbClr val="087F5B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4C7C9-6557-488C-8FB2-B434B55E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051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D9885-D15B-441C-ACF9-EB19A21E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432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Likes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577FF-5BB0-4D46-AE45-68589AFE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819525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E70"/>
                </a:solidFill>
              </a:defRPr>
            </a:pPr>
            <a:r>
              <a:rPr sz="1200" b="0">
                <a:solidFill>
                  <a:srgbClr val="5F6E70"/>
                </a:solidFill>
              </a:rPr>
              <a:t>Apify obtiene los perfiles que interactuaron.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A11D6-5DCA-474A-9C42-36E9FC9A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33625"/>
            <a:ext cx="1885950" cy="2476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54265-9D02-458B-A4FC-C38F773C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5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5B"/>
                </a:solidFill>
              </a:defRPr>
            </a:pPr>
            <a:r>
              <a:rPr sz="1125" b="1">
                <a:solidFill>
                  <a:srgbClr val="087F5B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670D2-83DC-47F5-8A30-2040EC45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051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5BFF6-0A20-4655-94BA-8C297A38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Filtro broker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13E587-FEF7-4C3B-A7C7-6721FA5E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19525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E70"/>
                </a:solidFill>
              </a:defRPr>
            </a:pPr>
            <a:r>
              <a:rPr sz="1200" b="0">
                <a:solidFill>
                  <a:srgbClr val="5F6E70"/>
                </a:solidFill>
              </a:rPr>
              <a:t>IA clasifica si el perfil corresponde a un broker.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12E3E-6BFC-4606-92DE-720C920A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33625"/>
            <a:ext cx="1885950" cy="2476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9206E-9D14-4F6A-B56D-363B4999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5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5B"/>
                </a:solidFill>
              </a:defRPr>
            </a:pPr>
            <a:r>
              <a:rPr sz="1125" b="1">
                <a:solidFill>
                  <a:srgbClr val="087F5B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18C84-045E-4895-A3F7-7B8C4EFB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051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BAA42F-FB21-4877-AE3C-CCD2FFB4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432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Búsqueda de email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93D7F9-D364-4471-A807-ED9AF372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819525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E70"/>
                </a:solidFill>
              </a:defRPr>
            </a:pPr>
            <a:r>
              <a:rPr sz="1200" b="0">
                <a:solidFill>
                  <a:srgbClr val="5F6E70"/>
                </a:solidFill>
              </a:rPr>
              <a:t>Se analiza bio, cuenta, web y contacto.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54DA25-FADD-41D7-9862-9F8381A8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33625"/>
            <a:ext cx="1885950" cy="2476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3A51EE-9EDB-49A4-9DBF-9596284D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52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5B"/>
                </a:solidFill>
              </a:defRPr>
            </a:pPr>
            <a:r>
              <a:rPr sz="1125" b="1">
                <a:solidFill>
                  <a:srgbClr val="087F5B"/>
                </a:solidFill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FECA8F-5500-442E-9AF1-B5D3DC3C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051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440650-98D4-44DD-BAFE-4C53ED04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432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Base exportable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292CB-5DED-4528-810B-3D317C47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19525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E70"/>
                </a:solidFill>
              </a:defRPr>
            </a:pPr>
            <a:r>
              <a:rPr sz="1200" b="0">
                <a:solidFill>
                  <a:srgbClr val="5F6E70"/>
                </a:solidFill>
              </a:rPr>
              <a:t>Los brokers con email quedan disponibles para exportar.</a:t>
            </a:r>
          </a:p>
        </p:txBody>
      </p:sp>
    </p:spTree>
    <p:extLst>
      <p:ext uri="{BB962C8B-B14F-4D97-AF65-F5344CB8AC3E}">
        <p14:creationId xmlns:p14="http://schemas.microsoft.com/office/powerpoint/2010/main" val="91720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5C0FA1-B9D4-49C7-8851-4FEE0726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</a:defRPr>
            </a:pPr>
            <a:r>
              <a:rPr sz="1050" b="1">
                <a:solidFill>
                  <a:srgbClr val="087F5B"/>
                </a:solidFill>
              </a:rPr>
              <a:t>CALIFICACIÓN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E8A70-0709-4172-9D56-D37BB55A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985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E"/>
                </a:solidFill>
              </a:defRPr>
            </a:pPr>
            <a:r>
              <a:rPr sz="2700" b="1">
                <a:solidFill>
                  <a:srgbClr val="102A2E"/>
                </a:solidFill>
              </a:rPr>
              <a:t>Cada perfil recibe una clasificación útil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29292-9C4A-464A-8238-9AD566E7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238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E70"/>
                </a:solidFill>
              </a:defRPr>
            </a:pPr>
            <a:r>
              <a:rPr sz="1125" b="1">
                <a:solidFill>
                  <a:srgbClr val="5F6E7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F8266-33DD-4A0E-A76C-CB4395A1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1"/>
          </a:solidFill>
          <a:ln xmlns:a="http://schemas.openxmlformats.org/drawingml/2006/main" w="0">
            <a:solidFill>
              <a:srgbClr val="D9E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52B91-7B6E-41B3-BB92-4B83A8B0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E70"/>
                </a:solidFill>
              </a:defRPr>
            </a:pPr>
            <a:r>
              <a:rPr sz="1725" b="0">
                <a:solidFill>
                  <a:srgbClr val="5F6E70"/>
                </a:solidFill>
              </a:rPr>
              <a:t>Primero se determina si el perfil es un broker. Solo los perfiles relevantes continúan al análisis de contacto.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AB433-B404-4171-9CF5-A9A5C3E5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48000"/>
            <a:ext cx="228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D9E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10EAF-5AFF-4243-AD0A-58526EC6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48000"/>
            <a:ext cx="19526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CF5E6"/>
          </a:solidFill>
          <a:ln xmlns:a="http://schemas.openxmlformats.org/drawingml/2006/main" w="9525">
            <a:solidFill>
              <a:srgbClr val="00B5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B8914-F3E1-4CCA-A7DB-E288A02C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3336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9F357-69CA-48B7-B20F-7B048B0D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3336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0C7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76C11-E0AD-4F0F-956B-36D72AA9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38700"/>
            <a:ext cx="18097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7FAF9"/>
          </a:solidFill>
          <a:ln xmlns:a="http://schemas.openxmlformats.org/drawingml/2006/main" w="9525">
            <a:solidFill>
              <a:srgbClr val="D9E5E1"/>
            </a:solidFill>
            <a:prstDash val="solid"/>
          </a:ln>
        </p:spPr>
      </p:sp>
      <p:cxnSp>
        <p:nvCxnSpPr>
          <p:cNvPr id="34" name=""/>
          <p:cNvCxnSpPr>
            <a:stCxn xmlns:a="http://schemas.openxmlformats.org/drawingml/2006/main" id="7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4286250" y="371475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5B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334250" y="2619375"/>
            <a:ext cx="133350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5B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334250" y="3714750"/>
            <a:ext cx="13335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5B"/>
            </a:solidFill>
            <a:prstDash val="solid"/>
            <a:head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0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6357938" y="4381500"/>
            <a:ext cx="4763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5B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3ED27-9B94-4FD9-A5A2-953A6E0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14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2E"/>
                </a:solidFill>
              </a:defRPr>
            </a:pPr>
            <a:r>
              <a:rPr sz="2025" b="1">
                <a:solidFill>
                  <a:srgbClr val="102A2E"/>
                </a:solidFill>
              </a:rPr>
              <a:t>Perfil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76C6E-00CE-4B00-B5BD-7697E738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4807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0"/>
                </a:solidFill>
              </a:defRPr>
            </a:pPr>
            <a:r>
              <a:rPr sz="1350" b="0">
                <a:solidFill>
                  <a:srgbClr val="5F6E70"/>
                </a:solidFill>
              </a:rPr>
              <a:t>analizado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936D2-918D-4810-8B94-4BD725D0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2900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2E"/>
                </a:solidFill>
              </a:defRPr>
            </a:pPr>
            <a:r>
              <a:rPr sz="1800" b="1">
                <a:solidFill>
                  <a:srgbClr val="102A2E"/>
                </a:solidFill>
              </a:rPr>
              <a:t>¿Es broker?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A0B9C7-86C4-4071-891E-6C447A97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57425"/>
            <a:ext cx="187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F5B"/>
                </a:solidFill>
              </a:defRPr>
            </a:pPr>
            <a:r>
              <a:rPr sz="1725" b="1">
                <a:solidFill>
                  <a:srgbClr val="087F5B"/>
                </a:solidFill>
              </a:rPr>
              <a:t>Broker con mail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9ED04-D39E-4A5C-BADD-36589A39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E70"/>
                </a:solidFill>
              </a:defRPr>
            </a:pPr>
            <a:r>
              <a:rPr sz="1200" b="0">
                <a:solidFill>
                  <a:srgbClr val="5F6E70"/>
                </a:solidFill>
              </a:rPr>
              <a:t>Pasa a la base exportable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9BA9C-A7FC-4FAE-B5CD-48ADEA41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43425"/>
            <a:ext cx="1876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2E"/>
                </a:solidFill>
              </a:defRPr>
            </a:pPr>
            <a:r>
              <a:rPr sz="1725" b="1">
                <a:solidFill>
                  <a:srgbClr val="102A2E"/>
                </a:solidFill>
              </a:rPr>
              <a:t>Broker sin mail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4D1C6-780C-460E-BAFC-4D16988F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339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E70"/>
                </a:solidFill>
              </a:defRPr>
            </a:pPr>
            <a:r>
              <a:rPr sz="1200" b="0">
                <a:solidFill>
                  <a:srgbClr val="5F6E70"/>
                </a:solidFill>
              </a:rPr>
              <a:t>Queda clasificado para seguimiento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FCEFD-D4E8-4C5F-BD38-A4F38B31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9434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F6E70"/>
                </a:solidFill>
              </a:defRPr>
            </a:pPr>
            <a:r>
              <a:rPr sz="1275" b="1">
                <a:solidFill>
                  <a:srgbClr val="5F6E70"/>
                </a:solidFill>
              </a:rPr>
              <a:t>No es broker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FD3B3-7F82-4355-875E-177B0B8A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816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E70"/>
                </a:solidFill>
              </a:defRPr>
            </a:pPr>
            <a:r>
              <a:rPr sz="1125" b="0">
                <a:solidFill>
                  <a:srgbClr val="5F6E70"/>
                </a:solidFill>
              </a:rPr>
              <a:t>Se descarta</a:t>
            </a:r>
          </a:p>
        </p:txBody>
      </p:sp>
    </p:spTree>
    <p:extLst>
      <p:ext uri="{BB962C8B-B14F-4D97-AF65-F5344CB8AC3E}">
        <p14:creationId xmlns:p14="http://schemas.microsoft.com/office/powerpoint/2010/main" val="1398315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20D27-C40C-43F2-840B-87D4F6A1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5B"/>
                </a:solidFill>
              </a:defRPr>
            </a:pPr>
            <a:r>
              <a:rPr sz="1050" b="1">
                <a:solidFill>
                  <a:srgbClr val="087F5B"/>
                </a:solidFill>
              </a:rPr>
              <a:t>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36002-15FA-4674-B9D9-846AC088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985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E"/>
                </a:solidFill>
              </a:defRPr>
            </a:pPr>
            <a:r>
              <a:rPr sz="2700" b="1">
                <a:solidFill>
                  <a:srgbClr val="102A2E"/>
                </a:solidFill>
              </a:rPr>
              <a:t>Una base lista para integrar y exportar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7E4CB-1F2A-4C12-986A-7FCEA5B3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238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F6E70"/>
                </a:solidFill>
              </a:defRPr>
            </a:pPr>
            <a:r>
              <a:rPr sz="1125" b="1">
                <a:solidFill>
                  <a:srgbClr val="5F6E70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4D057-FE2E-4AEA-A580-951C080A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E1"/>
          </a:solidFill>
          <a:ln xmlns:a="http://schemas.openxmlformats.org/drawingml/2006/main" w="0">
            <a:solidFill>
              <a:srgbClr val="D9E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CA422-354E-49E5-BE51-DDEFC7C8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E70"/>
                </a:solidFill>
              </a:defRPr>
            </a:pPr>
            <a:r>
              <a:rPr sz="1800" b="0">
                <a:solidFill>
                  <a:srgbClr val="5F6E70"/>
                </a:solidFill>
              </a:rPr>
              <a:t>Los perfiles que cumplen la condición de broker y tienen email se almacenan en la base de datos del sistema IVR.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004ED-8BD8-4F32-B742-ACF3A702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533400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0E3ED-2333-44AD-9CBE-AC5FEC6D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2E"/>
                </a:solidFill>
              </a:defRPr>
            </a:pPr>
            <a:r>
              <a:rPr sz="1950" b="1">
                <a:solidFill>
                  <a:srgbClr val="102A2E"/>
                </a:solidFill>
              </a:rPr>
              <a:t>Base de datos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58CAC-5873-4F3E-BA05-745EBC24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600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E24F1-F5D6-4365-ACCA-B4D3BFDC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5A4C7-ED61-4141-9E92-D30051A2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90950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E70"/>
                </a:solidFill>
              </a:defRPr>
            </a:pPr>
            <a:r>
              <a:rPr sz="1350" b="0">
                <a:solidFill>
                  <a:srgbClr val="5F6E70"/>
                </a:solidFill>
              </a:rPr>
              <a:t>Nombre / usuario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5C069-0652-470B-8726-E7B1B342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4F80F-3434-4016-80C9-BD0BC278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04812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E70"/>
                </a:solidFill>
              </a:defRPr>
            </a:pPr>
            <a:r>
              <a:rPr sz="1350" b="0">
                <a:solidFill>
                  <a:srgbClr val="5F6E70"/>
                </a:solidFill>
              </a:rPr>
              <a:t>Perfil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0E36E-6AC7-4A31-B718-EE57704F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EC476-A447-469F-AF3A-E463DF76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305300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E70"/>
                </a:solidFill>
              </a:defRPr>
            </a:pPr>
            <a:r>
              <a:rPr sz="1350" b="0">
                <a:solidFill>
                  <a:srgbClr val="5F6E70"/>
                </a:solidFill>
              </a:rPr>
              <a:t>Email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EC8A7-CFD1-4741-A332-1C9A75B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6490E-5970-41EC-8527-C951C3F8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624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E70"/>
                </a:solidFill>
              </a:defRPr>
            </a:pPr>
            <a:r>
              <a:rPr sz="1350" b="0">
                <a:solidFill>
                  <a:srgbClr val="5F6E70"/>
                </a:solidFill>
              </a:rPr>
              <a:t>Estado de calificación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A4009-DDF5-4F1F-8F03-90113FF1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11525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5B"/>
          </a:solidFill>
          <a:ln xmlns:a="http://schemas.openxmlformats.org/drawingml/2006/main" w="0">
            <a:solidFill>
              <a:srgbClr val="087F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EF6C8-F408-4F59-B382-40664EFE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62250"/>
            <a:ext cx="354330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7CC3A-E243-432F-B0D3-B15A4C78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1146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2E"/>
                </a:solidFill>
              </a:defRPr>
            </a:pPr>
            <a:r>
              <a:rPr sz="1950" b="1">
                <a:solidFill>
                  <a:srgbClr val="102A2E"/>
                </a:solidFill>
              </a:rPr>
              <a:t>Formatos de entrega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6195691f24a26"/>
          <a:stretch xmlns:a="http://schemas.openxmlformats.org/drawingml/2006/main"/>
        </p:blipFill>
        <p:spPr>
          <a:xfrm xmlns:a="http://schemas.openxmlformats.org/drawingml/2006/main">
            <a:off x="8048625" y="3752850"/>
            <a:ext cx="466725" cy="466725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5bb40690b4542"/>
          <a:stretch xmlns:a="http://schemas.openxmlformats.org/drawingml/2006/main"/>
        </p:blipFill>
        <p:spPr>
          <a:xfrm xmlns:a="http://schemas.openxmlformats.org/drawingml/2006/main">
            <a:off x="9344025" y="3752850"/>
            <a:ext cx="466725" cy="4667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C4F7B-E743-48D4-BB62-508FF445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8620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F5B"/>
                </a:solidFill>
              </a:defRPr>
            </a:pPr>
            <a:r>
              <a:rPr sz="1500" b="1">
                <a:solidFill>
                  <a:srgbClr val="087F5B"/>
                </a:solidFill>
              </a:rPr>
              <a:t>CSV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E51C6-4E20-4404-9C17-03A9C5A4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9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E70"/>
                </a:solidFill>
              </a:defRPr>
            </a:pPr>
            <a:r>
              <a:rPr sz="1200" b="0">
                <a:solidFill>
                  <a:srgbClr val="5F6E70"/>
                </a:solidFill>
              </a:rPr>
              <a:t>Excel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F43B40-A1B3-4B4B-8CD5-CE75CE92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196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E70"/>
                </a:solidFill>
              </a:defRPr>
            </a:pPr>
            <a:r>
              <a:rPr sz="1200" b="0">
                <a:solidFill>
                  <a:srgbClr val="5F6E70"/>
                </a:solidFill>
              </a:rPr>
              <a:t>Google Sheets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896BF8-429C-4809-BB4C-F23307F8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4196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E70"/>
                </a:solidFill>
              </a:defRPr>
            </a:pPr>
            <a:r>
              <a:rPr sz="1200" b="0">
                <a:solidFill>
                  <a:srgbClr val="5F6E70"/>
                </a:solidFill>
              </a:rPr>
              <a:t>CSV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164DD-30B5-4126-931F-8E9B2F1E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5B"/>
                </a:solidFill>
              </a:defRPr>
            </a:pPr>
            <a:r>
              <a:rPr sz="1575" b="1">
                <a:solidFill>
                  <a:srgbClr val="087F5B"/>
                </a:solidFill>
              </a:rPr>
              <a:t>Base centralizada, reutilizable y preparada para el equipo comercial.</a:t>
            </a:r>
          </a:p>
        </p:txBody>
      </p:sp>
    </p:spTree>
    <p:extLst>
      <p:ext uri="{BB962C8B-B14F-4D97-AF65-F5344CB8AC3E}">
        <p14:creationId xmlns:p14="http://schemas.microsoft.com/office/powerpoint/2010/main" val="1381611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10D93-E3D1-4BC6-AECD-2C0DD20A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Implementación segura y costo eficiente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34936-03AE-47C2-87B7-F33B9F02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C7F81-65C6-4B41-96A7-BCD9595B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4905375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9525">
            <a:solidFill>
              <a:srgbClr val="326067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b937914774e0c"/>
          <a:stretch xmlns:a="http://schemas.openxmlformats.org/drawingml/2006/main"/>
        </p:blipFill>
        <p:spPr>
          <a:xfrm xmlns:a="http://schemas.openxmlformats.org/drawingml/2006/main">
            <a:off x="1066800" y="2581275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2AEF1-7E0A-4DE5-99A5-9E5B1892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52700"/>
            <a:ext cx="295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Sin login en la cuenta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5863D-4270-464B-8130-3FBAF35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6E4"/>
                </a:solidFill>
              </a:defRPr>
            </a:pPr>
            <a:r>
              <a:rPr sz="1500" b="0">
                <a:solidFill>
                  <a:srgbClr val="D6E6E4"/>
                </a:solidFill>
              </a:rPr>
              <a:t>Apify permite realizar la extracción sin utilizar una cuenta propia para scrapear, reduciendo el riesgo operativo sobre la cuenta.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E4B51-2D2B-4C0F-B249-D83E8E0F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51625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73B3F"/>
          </a:solidFill>
          <a:ln xmlns:a="http://schemas.openxmlformats.org/drawingml/2006/main" w="9525">
            <a:solidFill>
              <a:srgbClr val="3260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4E41A-FAC0-45E2-BACE-6FEAFB82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Costos previstos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93F6D-5B4A-4224-A082-4CA94283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6A"/>
          </a:solidFill>
          <a:ln xmlns:a="http://schemas.openxmlformats.org/drawingml/2006/main" w="0">
            <a:solidFill>
              <a:srgbClr val="00B5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8D74D-FC60-4F18-AE49-838BB9BA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3952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6E4"/>
                </a:solidFill>
              </a:defRPr>
            </a:pPr>
            <a:r>
              <a:rPr sz="1500" b="0">
                <a:solidFill>
                  <a:srgbClr val="D6E6E4"/>
                </a:solidFill>
              </a:rPr>
              <a:t>• Uso de Apify</a:t>
            </a:r>
          </a:p>
          <a:p xmlns:a="http://schemas.openxmlformats.org/drawingml/2006/main">
            <a:pPr algn="l">
              <a:defRPr sz="1500" b="0">
                <a:solidFill>
                  <a:srgbClr val="D6E6E4"/>
                </a:solidFill>
              </a:defRPr>
            </a:pPr>
            <a:r>
              <a:rPr sz="1500" b="0">
                <a:solidFill>
                  <a:srgbClr val="D6E6E4"/>
                </a:solidFill>
              </a:rPr>
              <a:t>• Tokens de IA para clasificación</a:t>
            </a:r>
          </a:p>
          <a:p xmlns:a="http://schemas.openxmlformats.org/drawingml/2006/main">
            <a:pPr algn="l">
              <a:defRPr sz="1500" b="0">
                <a:solidFill>
                  <a:srgbClr val="D6E6E4"/>
                </a:solidFill>
              </a:defRPr>
            </a:pPr>
            <a:r>
              <a:rPr sz="1500" b="0">
                <a:solidFill>
                  <a:srgbClr val="D6E6E4"/>
                </a:solidFill>
              </a:rPr>
              <a:t>• Servidor y base de datos existentes del IVR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C981A-BB6C-4D6D-9206-C83D75EC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FF2D9"/>
                </a:solidFill>
              </a:defRPr>
            </a:pPr>
            <a:r>
              <a:rPr sz="1650" b="1">
                <a:solidFill>
                  <a:srgbClr val="BFF2D9"/>
                </a:solidFill>
              </a:rPr>
              <a:t>Próximo paso: definir el post de prueba y validar los criterios de “broker”.</a:t>
            </a:r>
          </a:p>
        </p:txBody>
      </p:sp>
    </p:spTree>
    <p:extLst>
      <p:ext uri="{BB962C8B-B14F-4D97-AF65-F5344CB8AC3E}">
        <p14:creationId xmlns:p14="http://schemas.microsoft.com/office/powerpoint/2010/main" val="1722209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2026-08-28T14:22:14.9800000Z</dcterms:created>
  <dcterms:modified xsi:type="dcterms:W3CDTF">2026-08-28T14:22:14.9800000Z</dcterms:modified>
</coreProperties>
</file>